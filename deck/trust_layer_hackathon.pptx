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8" r:id="rId19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8.xml"/><Relationship Id="rId2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[0:00-0:20 . HOOK]</a:t>
            </a:r>
          </a:p>
          <a:p>
            <a:r>
              <a:t>"Every biologist here has trained a classifier that scored 0.95 - and then never replicated. I built a tool that tells you, before you publish, whether that number is real."</a:t>
            </a:r>
          </a:p>
          <a:p/>
          <a:p>
            <a:r>
              <a:t>The Trust Layer: point it at a dataset AND the analysis notebook, and it returns the honest performance in one call.</a:t>
            </a:r>
          </a:p>
          <a:p>
            <a:r>
              <a:t>-&gt; Transition: "First, why this keeps happening."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[0:20-0:45 . THE PROBLEM]</a:t>
            </a:r>
          </a:p>
          <a:p>
            <a:r>
              <a:t>The reason isn't sloppiness - it's the shape of biology data. Small n, thousands of features.</a:t>
            </a:r>
          </a:p>
          <a:p/>
          <a:p>
            <a:r>
              <a:t>Three leaks do the damage: (1) preprocessing/feature-selection fit on the WHOLE dataset before the split; (2) replicate samples from one patient landing on both sides; (3) a batch/plate variable that tracks the outcome. Each silently inflates the score.</a:t>
            </a:r>
          </a:p>
          <a:p/>
          <a:p>
            <a:r>
              <a:t>Key line: "With more features than samples, you can hit 0.9 AUC on pure noise. That's not a bug in the biology - it's a bug in the evaluation."</a:t>
            </a:r>
          </a:p>
          <a:p>
            <a:r>
              <a:t>-&gt; Transition: "So we automated catching all three."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[0:45-1:05 . WHAT WE BUILT]</a:t>
            </a:r>
          </a:p>
          <a:p>
            <a:r>
              <a:t>Four stages, one call: (1) audit the CODE - read the notebook statically, no execution; (2) audit the DATA against a leakage taxonomy; (3) re-run honest, group-aware cross-validation; (4) return a plain-language report.</a:t>
            </a:r>
          </a:p>
          <a:p/>
          <a:p>
            <a:r>
              <a:t>Emphasize: "The scientist never has to self-declare 'I think I leaked.' We read their code and answer for them."</a:t>
            </a:r>
          </a:p>
          <a:p>
            <a:r>
              <a:t>-&gt; Transition: "And it really is one call."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[1:05-1:20 . THE API]</a:t>
            </a:r>
          </a:p>
          <a:p>
            <a:r>
              <a:t>Show the call. X, y, optional patient IDs, plate labels, and the notebook path.</a:t>
            </a:r>
          </a:p>
          <a:p/>
          <a:p>
            <a:r>
              <a:t>"That's the entire interface. A bench scientist with no ML background runs this and gets back: the real AUC, what inflated the reported one, and how confident the model actually is."</a:t>
            </a:r>
          </a:p>
          <a:p>
            <a:r>
              <a:t>-&gt; Transition: "Does it work? Four results."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[1:20-1:45 . RESULT 1 - QUANTIFY]</a:t>
            </a:r>
          </a:p>
          <a:p>
            <a:r>
              <a:t>Synthetic benchmark, known ground truth. Walk the ladder top-to-bottom:</a:t>
            </a:r>
          </a:p>
          <a:p>
            <a:r>
              <a:t>- Naive pipeline: 0.98</a:t>
            </a:r>
          </a:p>
          <a:p>
            <a:r>
              <a:t>- Fix subject leakage (GroupKFold): 0.94</a:t>
            </a:r>
          </a:p>
          <a:p>
            <a:r>
              <a:t>- Fix batch + preprocessing (fully honest): 0.89</a:t>
            </a:r>
          </a:p>
          <a:p/>
          <a:p>
            <a:r>
              <a:t>"Each rung is one leak switched off. The tool doesn't just say 'you leaked' - it shows HOW MUCH each leak was worth. Here, 0.08 AUC was pure artifact."</a:t>
            </a:r>
          </a:p>
          <a:p>
            <a:r>
              <a:t>-&gt; Transition: "Synthetic is nice. Here's real biology."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[1:45-2:15 . RESULT 2 - THE KILLER DEMO]</a:t>
            </a:r>
          </a:p>
          <a:p>
            <a:r>
              <a:t>Real GEO dataset: gastric cancer vs normal, 65 samples, 70,000 probes. Textbook p &gt;&gt; n.</a:t>
            </a:r>
          </a:p>
          <a:p/>
          <a:p>
            <a:r>
              <a:t>THE moment: "We shuffled the labels so there is ZERO biology left. The naive pipeline STILL reported AUC 0.99 - on random noise. Our honest CV dropped it to 0.54, coin-flip, exactly where it should be. And on the REAL labels, honest performance stayed high - 0.97 - because that signal is real."</a:t>
            </a:r>
          </a:p>
          <a:p/>
          <a:p>
            <a:r>
              <a:t>"That's the whole thesis in one slide: the naive number looks identical whether the signal is real or noise. Ours tells them apart."</a:t>
            </a:r>
          </a:p>
          <a:p>
            <a:r>
              <a:t>-&gt; Transition: "It's not just binary classifiers."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[2:15-2:30 . RESULT 3 - GENERALITY]</a:t>
            </a:r>
          </a:p>
          <a:p>
            <a:r>
              <a:t>Auto-detects the task: binary, multiclass, regression. Same leakage story, same honest ladder throughout. Nested CV also checks hyperparameter-tuning optimism.</a:t>
            </a:r>
          </a:p>
          <a:p/>
          <a:p>
            <a:r>
              <a:t>"One tool covers the outcome types a real lab actually has - not just the toy binary case."</a:t>
            </a:r>
          </a:p>
          <a:p>
            <a:r>
              <a:t>-&gt; Transition: "But a trust tool has to earn trust the other way too."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[2:30-2:50 . RESULT 4 - NO FALSE ALARMS]</a:t>
            </a:r>
          </a:p>
          <a:p>
            <a:r>
              <a:t>The real test: does it stay quiet when the analysis is clean?</a:t>
            </a:r>
          </a:p>
          <a:p/>
          <a:p>
            <a:r>
              <a:t>Two datasets, same tool: leaky one -&gt; 4 critical findings, flags +0.08 inflation. Clean one (Pipeline + GroupKFold, no confound) -&gt; 0 critical findings (just a benign p&gt;n dimensionality note), reports 'no inflation.'</a:t>
            </a:r>
          </a:p>
          <a:p/>
          <a:p>
            <a:r>
              <a:t>"A smoke alarm that goes off when you make toast is useless. This one doesn't cry wolf."</a:t>
            </a:r>
          </a:p>
          <a:p>
            <a:r>
              <a:t>-&gt; Transition: "So why does it matter?"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[2:50-3:00 . CLOSE]</a:t>
            </a:r>
          </a:p>
          <a:p>
            <a:r>
              <a:t>Land it: "The two hardest leaks to self-report - preprocessing and feature selection before the split - are exactly the ones we catch automatically, by reading the code. This is a trust layer for a field with a quiet reproducibility problem."</a:t>
            </a:r>
          </a:p>
          <a:p/>
          <a:p>
            <a:r>
              <a:t>"One call. Honest number, what inflated it, calibrated confidence. Thank you - happy to go deep in the appendix."</a:t>
            </a:r>
          </a:p>
          <a:p>
            <a:r>
              <a:t>[STOP - natural end. Appendix is Q&amp;A backup only.]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[APPENDIX - only if judges ask for detail]</a:t>
            </a:r>
          </a:p>
          <a:p>
            <a:r>
              <a:t>Divider. "Everything from here is backup: the taxonomy, calibration curves, and full methods. What do you want to see?"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[APPENDIX A . leakage taxonomy]</a:t>
            </a:r>
          </a:p>
          <a:p>
            <a:r>
              <a:t>The full audit table on the synthetic benchmark. Point to batch_confound: Cramer's V = 0.67, p = 1.4e-17 - statistically detected, not guessed. 4 critical + 1 dimensionality warning.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[APPENDIX B . calibration]</a:t>
            </a:r>
          </a:p>
          <a:p>
            <a:r>
              <a:t>Left: ROC, leaky vs honest. Right: reliability curve - the model's stated probabilities match observed frequencies (Brier 0.15). "Calibrated means a 0.8 prediction is right about 80% of the time - the biologist can trust the confidence, not just the label."</a:t>
            </a:r>
          </a:p>
          <a:p/>
          <a:p>
            <a:r>
              <a:t>If asked about the model: calibrated logistic regression is the default; the tool also fits a nonlinear gradient-boosted model and auto-picks the better one, with a nested check so the selection itself stays honest.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[APPENDIX C . reproducibility]</a:t>
            </a:r>
          </a:p>
          <a:p>
            <a:r>
              <a:t>Every number is reproducible from saved artifacts. Honest CV = scaling + feature selection + per-batch centering all fit INSIDE each training fold; GroupKFold keeps subjects intact. No notebook code is ever executed - the code audit is purely static (AST). Packaged as a reusable skill + a one-command demo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FFFFFF"/>
                </a:solidFill>
                <a:latin typeface="Calibri"/>
              </a:rPr>
              <a:t>The Trust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51460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BFD7EA"/>
                </a:solidFill>
                <a:latin typeface="Calibri"/>
              </a:rPr>
              <a:t>An agentic trust check for small-data biology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343400"/>
            <a:ext cx="1060704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D6E2EC"/>
                </a:solidFill>
                <a:latin typeface="Calibri"/>
              </a:rPr>
              <a:t>Point it at a dataset and analysis notebook. It audits for data leakage, re-runs an</a:t>
            </a:r>
          </a:p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D6E2EC"/>
                </a:solidFill>
                <a:latin typeface="Calibri"/>
              </a:rPr>
              <a:t>honest cross-validation, and tells a biologist what their model is really worth.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5806440"/>
            <a:ext cx="2514600" cy="457200"/>
          </a:xfrm>
          <a:prstGeom prst="round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Data-leakage audit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38728" y="5806440"/>
            <a:ext cx="2514600" cy="457200"/>
          </a:xfrm>
          <a:prstGeom prst="round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Leakage-safe CV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5806440"/>
            <a:ext cx="2514600" cy="457200"/>
          </a:xfrm>
          <a:prstGeom prst="roundRect">
            <a:avLst/>
          </a:prstGeom>
          <a:solidFill>
            <a:srgbClr val="E0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Calibrated LogReg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33688" y="5806440"/>
            <a:ext cx="2514600" cy="45720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Plain-language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B1B1B"/>
                </a:solidFill>
                <a:latin typeface="Calibri"/>
              </a:rPr>
              <a:t>The quiet reproducibility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5156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5A6B7B"/>
                </a:solidFill>
                <a:latin typeface="Calibri"/>
              </a:rPr>
              <a:t>A bench scientist builds a classifier, sees 0.95 AUC — and it never replicates.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5349240" cy="2103120"/>
          </a:xfrm>
          <a:prstGeom prst="rect">
            <a:avLst/>
          </a:prstGeom>
          <a:solidFill>
            <a:srgbClr val="EC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109728" cy="21031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29968"/>
            <a:ext cx="48463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C0392B"/>
                </a:solidFill>
                <a:latin typeface="Calibri"/>
              </a:rPr>
              <a:t>Small n, huge 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78608"/>
            <a:ext cx="489204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1B1B1B"/>
                </a:solidFill>
                <a:latin typeface="Calibri"/>
              </a:rPr>
              <a:t>Datasets are often n &lt; 200 with thousands of features. Selecting the 'best' features on the full data manufactures signal from noise.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828800"/>
            <a:ext cx="5349240" cy="2103120"/>
          </a:xfrm>
          <a:prstGeom prst="rect">
            <a:avLst/>
          </a:prstGeom>
          <a:solidFill>
            <a:srgbClr val="EC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828800"/>
            <a:ext cx="109728" cy="21031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29968"/>
            <a:ext cx="48463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C0392B"/>
                </a:solidFill>
                <a:latin typeface="Calibri"/>
              </a:rPr>
              <a:t>Subject leakage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578608"/>
            <a:ext cx="489204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1B1B1B"/>
                </a:solidFill>
                <a:latin typeface="Calibri"/>
              </a:rPr>
              <a:t>Repeated measures from one patient straddle the train/test split. The model memorises the subject, not the biology.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160520"/>
            <a:ext cx="5349240" cy="2103120"/>
          </a:xfrm>
          <a:prstGeom prst="rect">
            <a:avLst/>
          </a:prstGeom>
          <a:solidFill>
            <a:srgbClr val="EC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160520"/>
            <a:ext cx="109728" cy="21031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361688"/>
            <a:ext cx="48463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C0392B"/>
                </a:solidFill>
                <a:latin typeface="Calibri"/>
              </a:rPr>
              <a:t>Batch confounding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910328"/>
            <a:ext cx="489204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1B1B1B"/>
                </a:solidFill>
                <a:latin typeface="Calibri"/>
              </a:rPr>
              <a:t>A plate or site variable correlates with the outcome. The model reads batch signatures instead of disease.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4160520"/>
            <a:ext cx="5349240" cy="2103120"/>
          </a:xfrm>
          <a:prstGeom prst="rect">
            <a:avLst/>
          </a:prstGeom>
          <a:solidFill>
            <a:srgbClr val="EC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4160520"/>
            <a:ext cx="109728" cy="21031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4361688"/>
            <a:ext cx="48463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C0392B"/>
                </a:solidFill>
                <a:latin typeface="Calibri"/>
              </a:rPr>
              <a:t>Leaky preprocessing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910328"/>
            <a:ext cx="489204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1B1B1B"/>
                </a:solidFill>
                <a:latin typeface="Calibri"/>
              </a:rPr>
              <a:t>Scaling or feature selection fit on the whole dataset lets test rows inform the pipeline — before any prediction is made.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473952"/>
            <a:ext cx="82296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A6B7B"/>
                </a:solidFill>
                <a:latin typeface="Calibri"/>
              </a:rPr>
              <a:t>Trust Layer — honest ML for small-data biology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73952"/>
            <a:ext cx="7315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 i="0">
                <a:solidFill>
                  <a:srgbClr val="5A6B7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B1B1B"/>
                </a:solidFill>
                <a:latin typeface="Calibri"/>
              </a:rPr>
              <a:t>What we built: an automated trust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51560"/>
            <a:ext cx="111556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5A6B7B"/>
                </a:solidFill>
                <a:latin typeface="Calibri"/>
              </a:rPr>
              <a:t>One call runs the whole pipeline — the scientist never has to self-declare their mistakes.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2567863" cy="3291840"/>
          </a:xfrm>
          <a:prstGeom prst="rect">
            <a:avLst/>
          </a:prstGeom>
          <a:solidFill>
            <a:srgbClr val="EC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2567863" cy="82296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12848"/>
            <a:ext cx="2567863" cy="594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2293543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550" b="1" i="0">
                <a:solidFill>
                  <a:srgbClr val="2E86C1"/>
                </a:solidFill>
                <a:latin typeface="Calibri"/>
              </a:rPr>
              <a:t>AUDIT THE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03320"/>
            <a:ext cx="2202103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3000"/>
              </a:lnSpc>
            </a:pPr>
            <a:r>
              <a:rPr sz="1300" b="0" i="0">
                <a:solidFill>
                  <a:srgbClr val="1B1B1B"/>
                </a:solidFill>
                <a:latin typeface="Calibri"/>
              </a:rPr>
              <a:t>Static AST scan of the notebook flags preprocessing, feature selection, or resampling fit before the split.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8215" y="3383280"/>
            <a:ext cx="3657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0" i="0">
                <a:solidFill>
                  <a:srgbClr val="5A6B7B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90823" y="2103120"/>
            <a:ext cx="2567863" cy="3291840"/>
          </a:xfrm>
          <a:prstGeom prst="rect">
            <a:avLst/>
          </a:prstGeom>
          <a:solidFill>
            <a:srgbClr val="EC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90823" y="2103120"/>
            <a:ext cx="2567863" cy="8229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90823" y="2212848"/>
            <a:ext cx="2567863" cy="594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7983" y="3063240"/>
            <a:ext cx="2293543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550" b="1" i="0">
                <a:solidFill>
                  <a:srgbClr val="C0392B"/>
                </a:solidFill>
                <a:latin typeface="Calibri"/>
              </a:rPr>
              <a:t>AUDIT THE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73703" y="3703320"/>
            <a:ext cx="2202103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3000"/>
              </a:lnSpc>
            </a:pPr>
            <a:r>
              <a:rPr sz="1300" b="0" i="0">
                <a:solidFill>
                  <a:srgbClr val="1B1B1B"/>
                </a:solidFill>
                <a:latin typeface="Calibri"/>
              </a:rPr>
              <a:t>Checks p/n regime, class balance, duplicate rows, subject leakage, and batch–outcome confounding.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0398" y="3383280"/>
            <a:ext cx="3657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0" i="0">
                <a:solidFill>
                  <a:srgbClr val="5A6B7B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6" y="2103120"/>
            <a:ext cx="2567863" cy="3291840"/>
          </a:xfrm>
          <a:prstGeom prst="rect">
            <a:avLst/>
          </a:prstGeom>
          <a:solidFill>
            <a:srgbClr val="EC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3006" y="2103120"/>
            <a:ext cx="2567863" cy="82296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3006" y="2212848"/>
            <a:ext cx="2567863" cy="594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0166" y="3063240"/>
            <a:ext cx="2293543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550" b="1" i="0">
                <a:solidFill>
                  <a:srgbClr val="1F7A4D"/>
                </a:solidFill>
                <a:latin typeface="Calibri"/>
              </a:rPr>
              <a:t>HONEST CV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5886" y="3703320"/>
            <a:ext cx="2202103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3000"/>
              </a:lnSpc>
            </a:pPr>
            <a:r>
              <a:rPr sz="1300" b="0" i="0">
                <a:solidFill>
                  <a:srgbClr val="1B1B1B"/>
                </a:solidFill>
                <a:latin typeface="Calibri"/>
              </a:rPr>
              <a:t>Re-runs cross-validation with every step fit inside folds and GroupKFold on subjects. The gap = the leakage.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82581" y="3383280"/>
            <a:ext cx="3657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0" i="0">
                <a:solidFill>
                  <a:srgbClr val="5A6B7B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5189" y="2103120"/>
            <a:ext cx="2567863" cy="3291840"/>
          </a:xfrm>
          <a:prstGeom prst="rect">
            <a:avLst/>
          </a:prstGeom>
          <a:solidFill>
            <a:srgbClr val="EC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5189" y="2103120"/>
            <a:ext cx="2567863" cy="822960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75189" y="2212848"/>
            <a:ext cx="2567863" cy="594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2349" y="3063240"/>
            <a:ext cx="2293543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550" b="1" i="0">
                <a:solidFill>
                  <a:srgbClr val="8E44AD"/>
                </a:solidFill>
                <a:latin typeface="Calibri"/>
              </a:rPr>
              <a:t>TRUST 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8069" y="3703320"/>
            <a:ext cx="2202103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3000"/>
              </a:lnSpc>
            </a:pPr>
            <a:r>
              <a:rPr sz="1300" b="0" i="0">
                <a:solidFill>
                  <a:srgbClr val="1B1B1B"/>
                </a:solidFill>
                <a:latin typeface="Calibri"/>
              </a:rPr>
              <a:t>A calibrated logistic-regression model with reliable uncertainty, plus a plain-language report a non-ML biologist can act 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71500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1B1B1B"/>
                </a:solidFill>
                <a:latin typeface="Calibri"/>
              </a:rPr>
              <a:t>Design principle:  naive performance  −  honest performance  =  the leakage.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6473952"/>
            <a:ext cx="82296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A6B7B"/>
                </a:solidFill>
                <a:latin typeface="Calibri"/>
              </a:rPr>
              <a:t>Trust Layer — honest ML for small-data biology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73952"/>
            <a:ext cx="7315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 i="0">
                <a:solidFill>
                  <a:srgbClr val="5A6B7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B1B1B"/>
                </a:solidFill>
                <a:latin typeface="Calibri"/>
              </a:rPr>
              <a:t>The whole thing is one function 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51560"/>
            <a:ext cx="111556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5A6B7B"/>
                </a:solidFill>
                <a:latin typeface="Calibri"/>
              </a:rPr>
              <a:t>A scientist points it at their data and their notebook — no ML expertise required.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6766560" cy="402336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6400800" cy="3566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D6E2EC"/>
                </a:solidFill>
                <a:latin typeface="Consolas"/>
              </a:rPr>
              <a:t>result = trust_audit(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D6E2EC"/>
                </a:solidFill>
                <a:latin typeface="Consolas"/>
              </a:rPr>
              <a:t>    X, y,                      # samples x features, labels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D6E2EC"/>
                </a:solidFill>
                <a:latin typeface="Consolas"/>
              </a:rPr>
              <a:t>    groups = subject_ids,      # -&gt; subject-safe CV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D6E2EC"/>
                </a:solidFill>
                <a:latin typeface="Consolas"/>
              </a:rPr>
              <a:t>    batch  = plate_labels,     # -&gt; batch-confound check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D6E2EC"/>
                </a:solidFill>
                <a:latin typeface="Consolas"/>
              </a:rPr>
              <a:t>    notebook = "analysis.ipynb",  # -&gt; static code audit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D6E2EC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D6E2EC"/>
                </a:solidFill>
                <a:latin typeface="Consolas"/>
              </a:rPr>
              <a:t>)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D6E2EC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D6E2EC"/>
                </a:solidFill>
                <a:latin typeface="Consolas"/>
              </a:rPr>
              <a:t>print(result["report_md"])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178308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B1B1B"/>
                </a:solidFill>
                <a:latin typeface="Calibri"/>
              </a:rPr>
              <a:t>What comes back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0" y="2331720"/>
            <a:ext cx="128016" cy="56692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0" y="2313432"/>
            <a:ext cx="38404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2E86C1"/>
                </a:solidFill>
                <a:latin typeface="Calibri"/>
              </a:rPr>
              <a:t>Code audit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0" y="2624328"/>
            <a:ext cx="38404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A6B7B"/>
                </a:solidFill>
                <a:latin typeface="Calibri"/>
              </a:rPr>
              <a:t>leaks found in the notebook, by 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3081527"/>
            <a:ext cx="128016" cy="5669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0" y="3063239"/>
            <a:ext cx="38404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C0392B"/>
                </a:solidFill>
                <a:latin typeface="Calibri"/>
              </a:rPr>
              <a:t>Data audit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0" y="3374135"/>
            <a:ext cx="38404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A6B7B"/>
                </a:solidFill>
                <a:latin typeface="Calibri"/>
              </a:rPr>
              <a:t>taxonomy findings, critical / warning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3831335"/>
            <a:ext cx="128016" cy="5669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3813047"/>
            <a:ext cx="38404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7A4D"/>
                </a:solidFill>
                <a:latin typeface="Calibri"/>
              </a:rPr>
              <a:t>CV ladder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4123943"/>
            <a:ext cx="38404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A6B7B"/>
                </a:solidFill>
                <a:latin typeface="Calibri"/>
              </a:rPr>
              <a:t>naive → honest, step by step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0" y="4581144"/>
            <a:ext cx="128016" cy="566928"/>
          </a:xfrm>
          <a:prstGeom prst="rect">
            <a:avLst/>
          </a:prstGeom>
          <a:solidFill>
            <a:srgbClr val="E0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0" y="4562856"/>
            <a:ext cx="38404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E07A2B"/>
                </a:solidFill>
                <a:latin typeface="Calibri"/>
              </a:rPr>
              <a:t>Honest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0" y="4873752"/>
            <a:ext cx="38404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A6B7B"/>
                </a:solidFill>
                <a:latin typeface="Calibri"/>
              </a:rPr>
              <a:t>AUC + calibrated Brier score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0" y="5330952"/>
            <a:ext cx="128016" cy="566928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0" y="5312664"/>
            <a:ext cx="38404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8E44AD"/>
                </a:solidFill>
                <a:latin typeface="Calibri"/>
              </a:rPr>
              <a:t>Plain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0" y="5623560"/>
            <a:ext cx="38404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A6B7B"/>
                </a:solidFill>
                <a:latin typeface="Calibri"/>
              </a:rPr>
              <a:t>what to trust, what to fix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473952"/>
            <a:ext cx="82296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A6B7B"/>
                </a:solidFill>
                <a:latin typeface="Calibri"/>
              </a:rPr>
              <a:t>Trust Layer — honest ML for small-data biology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73952"/>
            <a:ext cx="7315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 i="0">
                <a:solidFill>
                  <a:srgbClr val="5A6B7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B1B1B"/>
                </a:solidFill>
                <a:latin typeface="Calibri"/>
              </a:rPr>
              <a:t>Result 1 — we catch the inflation and quantify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51560"/>
            <a:ext cx="111556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5A6B7B"/>
                </a:solidFill>
                <a:latin typeface="Calibri"/>
              </a:rPr>
              <a:t>Synthetic benchmark with known ground truth: 160 samples, 800 features, 40 subjects.</a:t>
            </a:r>
          </a:p>
        </p:txBody>
      </p:sp>
      <p:pic>
        <p:nvPicPr>
          <p:cNvPr id="6" name="Picture 5" descr="v5394e6ad_fig1_leakage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9" y="1600200"/>
            <a:ext cx="6940281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772400" y="1737360"/>
            <a:ext cx="3931920" cy="4297680"/>
          </a:xfrm>
          <a:prstGeom prst="rect">
            <a:avLst/>
          </a:prstGeom>
          <a:solidFill>
            <a:srgbClr val="EC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1920240"/>
            <a:ext cx="34747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1B1B1B"/>
                </a:solidFill>
                <a:latin typeface="Calibri"/>
              </a:rPr>
              <a:t>The ladder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14600"/>
            <a:ext cx="2468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C0392B"/>
                </a:solidFill>
                <a:latin typeface="Calibri"/>
              </a:rPr>
              <a:t>Naive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61320" y="2441448"/>
            <a:ext cx="100584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2400" b="1" i="0">
                <a:solidFill>
                  <a:srgbClr val="C0392B"/>
                </a:solidFill>
                <a:latin typeface="Calibri"/>
              </a:rPr>
              <a:t>0.98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898648"/>
            <a:ext cx="34747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A6B7B"/>
                </a:solidFill>
                <a:latin typeface="Calibri"/>
              </a:rPr>
              <a:t>feature selection + scaling on full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566160"/>
            <a:ext cx="2468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E07A2B"/>
                </a:solidFill>
                <a:latin typeface="Calibri"/>
              </a:rPr>
              <a:t>+ subject-safe CV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1320" y="3493008"/>
            <a:ext cx="100584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2400" b="1" i="0">
                <a:solidFill>
                  <a:srgbClr val="E07A2B"/>
                </a:solidFill>
                <a:latin typeface="Calibri"/>
              </a:rPr>
              <a:t>0.94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950208"/>
            <a:ext cx="34747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A6B7B"/>
                </a:solidFill>
                <a:latin typeface="Calibri"/>
              </a:rPr>
              <a:t>GroupKFold keeps patients intact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4617720"/>
            <a:ext cx="2468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7A4D"/>
                </a:solidFill>
                <a:latin typeface="Calibri"/>
              </a:rPr>
              <a:t>+ batch correction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61320" y="4544568"/>
            <a:ext cx="100584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2400" b="1" i="0">
                <a:solidFill>
                  <a:srgbClr val="1F7A4D"/>
                </a:solidFill>
                <a:latin typeface="Calibri"/>
              </a:rPr>
              <a:t>0.89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5001768"/>
            <a:ext cx="34747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A6B7B"/>
                </a:solidFill>
                <a:latin typeface="Calibri"/>
              </a:rPr>
              <a:t>fully honest, in-fold centering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5623560"/>
            <a:ext cx="34747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B1B1B"/>
                </a:solidFill>
                <a:latin typeface="Calibri"/>
              </a:rPr>
              <a:t>Leakage inflated AUC by +0.09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73952"/>
            <a:ext cx="82296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A6B7B"/>
                </a:solidFill>
                <a:latin typeface="Calibri"/>
              </a:rPr>
              <a:t>Trust Layer — honest ML for small-data biology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73952"/>
            <a:ext cx="7315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 i="0">
                <a:solidFill>
                  <a:srgbClr val="5A6B7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B1B1B"/>
                </a:solidFill>
                <a:latin typeface="Calibri"/>
              </a:rPr>
              <a:t>Result 2 — proof on real biology (GEO GSE146996)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51560"/>
            <a:ext cx="111556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5A6B7B"/>
                </a:solidFill>
                <a:latin typeface="Calibri"/>
              </a:rPr>
              <a:t>Gastric cancer vs normal, 65 samples × 70,523 probes — a real p ≫ n dataset.</a:t>
            </a:r>
          </a:p>
        </p:txBody>
      </p:sp>
      <p:pic>
        <p:nvPicPr>
          <p:cNvPr id="6" name="Picture 5" descr="v44f5e4b2_fig3_realdata_null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464" y="1645920"/>
            <a:ext cx="6882112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1783080"/>
            <a:ext cx="3749039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C0392B"/>
                </a:solidFill>
                <a:latin typeface="Calibri"/>
              </a:rPr>
              <a:t>The killer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331720"/>
            <a:ext cx="3749039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B1B1B"/>
                </a:solidFill>
                <a:latin typeface="Calibri"/>
              </a:rPr>
              <a:t>Shuffle the labels so NO biology remains. The naive pipeline still reports AUC 0.99 — on pure noise.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3840480"/>
            <a:ext cx="3703320" cy="914400"/>
          </a:xfrm>
          <a:prstGeom prst="rect">
            <a:avLst/>
          </a:prstGeom>
          <a:solidFill>
            <a:srgbClr val="EC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3950208"/>
            <a:ext cx="33832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A6B7B"/>
                </a:solidFill>
                <a:latin typeface="Calibri"/>
              </a:rPr>
              <a:t>Naive, shuffled labels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4224528"/>
            <a:ext cx="33832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C0392B"/>
                </a:solidFill>
                <a:latin typeface="Calibri"/>
              </a:rPr>
              <a:t>AUC 0.99  →  pure artifact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4892040"/>
            <a:ext cx="3703320" cy="914400"/>
          </a:xfrm>
          <a:prstGeom prst="rect">
            <a:avLst/>
          </a:prstGeom>
          <a:solidFill>
            <a:srgbClr val="EC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5001768"/>
            <a:ext cx="33832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A6B7B"/>
                </a:solidFill>
                <a:latin typeface="Calibri"/>
              </a:rPr>
              <a:t>Honest CV, shuffled labels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5276088"/>
            <a:ext cx="33832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F7A4D"/>
                </a:solidFill>
                <a:latin typeface="Calibri"/>
              </a:rPr>
              <a:t>AUC 0.54  →  chance (correct)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473952"/>
            <a:ext cx="82296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A6B7B"/>
                </a:solidFill>
                <a:latin typeface="Calibri"/>
              </a:rPr>
              <a:t>Trust Layer — honest ML for small-data biology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73952"/>
            <a:ext cx="7315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 i="0">
                <a:solidFill>
                  <a:srgbClr val="5A6B7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B1B1B"/>
                </a:solidFill>
                <a:latin typeface="Calibri"/>
              </a:rPr>
              <a:t>Result 3 — one tool, every outcome 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51560"/>
            <a:ext cx="111556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5A6B7B"/>
                </a:solidFill>
                <a:latin typeface="Calibri"/>
              </a:rPr>
              <a:t>Auto-detects the task from the labels. Same leakage story holds throughout.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783080"/>
            <a:ext cx="3749039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1B1B1B"/>
                </a:solidFill>
                <a:latin typeface="Calibri"/>
              </a:rPr>
              <a:t>Coverage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2423160"/>
            <a:ext cx="128016" cy="82296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404872"/>
            <a:ext cx="34747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2E86C1"/>
                </a:solidFill>
                <a:latin typeface="Calibri"/>
              </a:rPr>
              <a:t>Binary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752344"/>
            <a:ext cx="34747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B1B1B"/>
                </a:solidFill>
                <a:latin typeface="Calibri"/>
              </a:rPr>
              <a:t>AUC 0.98 → 0.90  (naive → honest)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026664"/>
            <a:ext cx="34747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A6B7B"/>
                </a:solidFill>
                <a:latin typeface="Calibri"/>
              </a:rPr>
              <a:t>Calibrated LogReg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3474720"/>
            <a:ext cx="128016" cy="82296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456432"/>
            <a:ext cx="34747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F7A4D"/>
                </a:solidFill>
                <a:latin typeface="Calibri"/>
              </a:rPr>
              <a:t>Multiclass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803904"/>
            <a:ext cx="34747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B1B1B"/>
                </a:solidFill>
                <a:latin typeface="Calibri"/>
              </a:rPr>
              <a:t>AUC 0.93 → 0.70  (naive → honest)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4078224"/>
            <a:ext cx="34747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A6B7B"/>
                </a:solidFill>
                <a:latin typeface="Calibri"/>
              </a:rPr>
              <a:t>macro-OVR, balanced acc.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4526279"/>
            <a:ext cx="128016" cy="822960"/>
          </a:xfrm>
          <a:prstGeom prst="rect">
            <a:avLst/>
          </a:prstGeom>
          <a:solidFill>
            <a:srgbClr val="E0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4507991"/>
            <a:ext cx="34747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E07A2B"/>
                </a:solidFill>
                <a:latin typeface="Calibri"/>
              </a:rPr>
              <a:t>Regression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855463"/>
            <a:ext cx="34747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B1B1B"/>
                </a:solidFill>
                <a:latin typeface="Calibri"/>
              </a:rPr>
              <a:t>R² 0.75 → 0.63  (naive → honest)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5129783"/>
            <a:ext cx="34747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A6B7B"/>
                </a:solidFill>
                <a:latin typeface="Calibri"/>
              </a:rPr>
              <a:t>Ridge, RMSE / MAE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5623560"/>
            <a:ext cx="3749039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8E44AD"/>
                </a:solidFill>
                <a:latin typeface="Calibri"/>
              </a:rPr>
              <a:t>+ nested CV for tuning honesty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473952"/>
            <a:ext cx="82296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A6B7B"/>
                </a:solidFill>
                <a:latin typeface="Calibri"/>
              </a:rPr>
              <a:t>Trust Layer — honest ML for small-data biology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73952"/>
            <a:ext cx="7315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 i="0">
                <a:solidFill>
                  <a:srgbClr val="5A6B7B"/>
                </a:solidFill>
                <a:latin typeface="Calibri"/>
              </a:rPr>
              <a:t>7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98930"/>
            <a:ext cx="7315200" cy="41745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B1B1B"/>
                </a:solidFill>
                <a:latin typeface="Calibri"/>
              </a:rPr>
              <a:t>Result 4 — it doesn't cry wolf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51560"/>
            <a:ext cx="111556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5A6B7B"/>
                </a:solidFill>
                <a:latin typeface="Calibri"/>
              </a:rPr>
              <a:t>The real test of a trust tool: does it stay quiet when the analysis is actually sound?</a:t>
            </a:r>
          </a:p>
        </p:txBody>
      </p:sp>
      <p:pic>
        <p:nvPicPr>
          <p:cNvPr id="6" name="Picture 5" descr="vb9972004_fig5_leaky_vs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024" y="1691640"/>
            <a:ext cx="6512991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046720" y="1783080"/>
            <a:ext cx="3703320" cy="1965960"/>
          </a:xfrm>
          <a:prstGeom prst="rect">
            <a:avLst/>
          </a:prstGeom>
          <a:solidFill>
            <a:srgbClr val="EC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1783080"/>
            <a:ext cx="109728" cy="19659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39328" y="1938528"/>
            <a:ext cx="3291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C0392B"/>
                </a:solidFill>
                <a:latin typeface="Calibri"/>
              </a:rPr>
              <a:t>Leaky data + leaky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39328" y="2395728"/>
            <a:ext cx="329184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B1B1B"/>
                </a:solidFill>
                <a:latin typeface="Calibri"/>
              </a:rPr>
              <a:t>4 critical findings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B1B1B"/>
                </a:solidFill>
                <a:latin typeface="Calibri"/>
              </a:rPr>
              <a:t>naive 0.98 → honest 0.90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B1B1B"/>
                </a:solidFill>
                <a:latin typeface="Calibri"/>
              </a:rPr>
              <a:t>Inflation flagged: +0.08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3977639"/>
            <a:ext cx="3703320" cy="1965960"/>
          </a:xfrm>
          <a:prstGeom prst="rect">
            <a:avLst/>
          </a:prstGeom>
          <a:solidFill>
            <a:srgbClr val="EC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3977639"/>
            <a:ext cx="109728" cy="196596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9328" y="4133087"/>
            <a:ext cx="3291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F7A4D"/>
                </a:solidFill>
                <a:latin typeface="Calibri"/>
              </a:rPr>
              <a:t>Clean data + clean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8" y="4590288"/>
            <a:ext cx="329184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B1B1B"/>
                </a:solidFill>
                <a:latin typeface="Calibri"/>
              </a:rPr>
              <a:t>0 critical findings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B1B1B"/>
                </a:solidFill>
                <a:latin typeface="Calibri"/>
              </a:rPr>
              <a:t>naive 0.98 → honest 0.98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B1B1B"/>
                </a:solidFill>
                <a:latin typeface="Calibri"/>
              </a:rPr>
              <a:t>No inflation: +0.00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473952"/>
            <a:ext cx="82296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A6B7B"/>
                </a:solidFill>
                <a:latin typeface="Calibri"/>
              </a:rPr>
              <a:t>Trust Layer — honest ML for small-data biology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73952"/>
            <a:ext cx="7315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 i="0">
                <a:solidFill>
                  <a:srgbClr val="5A6B7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17320"/>
            <a:ext cx="12191695" cy="457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457200" cy="457200"/>
          </a:xfrm>
          <a:prstGeom prst="round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73736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BFD7EA"/>
                </a:solidFill>
                <a:latin typeface="Calibri"/>
              </a:rPr>
              <a:t>Catches what humans miss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148840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D6E2EC"/>
                </a:solidFill>
                <a:latin typeface="Calibri"/>
              </a:rPr>
              <a:t>The two hardest leaks to self-report — preprocessing and feature selection before the split — are found automatically by reading the code.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953511"/>
            <a:ext cx="457200" cy="457200"/>
          </a:xfrm>
          <a:prstGeom prst="round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907791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BFD7EA"/>
                </a:solidFill>
                <a:latin typeface="Calibri"/>
              </a:rPr>
              <a:t>Honest, not alarmist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319271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D6E2EC"/>
                </a:solidFill>
                <a:latin typeface="Calibri"/>
              </a:rPr>
              <a:t>On real signal it reports near-zero inflation. It distinguishes genuine biology from artifact instead of crying wolf.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23944"/>
            <a:ext cx="457200" cy="457200"/>
          </a:xfrm>
          <a:prstGeom prst="round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4078224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BFD7EA"/>
                </a:solidFill>
                <a:latin typeface="Calibri"/>
              </a:rPr>
              <a:t>Built for the bench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4489704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D6E2EC"/>
                </a:solidFill>
                <a:latin typeface="Calibri"/>
              </a:rPr>
              <a:t>A non-ML biologist gets a plain-language verdict: here is your real performance, here is what inflated it, here is how confident the model actually 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294376"/>
            <a:ext cx="457200" cy="457200"/>
          </a:xfrm>
          <a:prstGeom prst="round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5248656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BFD7EA"/>
                </a:solidFill>
                <a:latin typeface="Calibri"/>
              </a:rPr>
              <a:t>Shipped as a reusable skill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5660136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D6E2EC"/>
                </a:solidFill>
                <a:latin typeface="Calibri"/>
              </a:rPr>
              <a:t>Binary / multiclass / regression + nested CV, one call, validated on real GEO data — ready to run on the next dataset.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40080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8AA8C0"/>
                </a:solidFill>
                <a:latin typeface="Calibri"/>
              </a:rPr>
              <a:t>The Trust Layer — because a 0.95 AUC should mean something.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880360"/>
            <a:ext cx="1463040" cy="8229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10896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06908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9FBCD4"/>
                </a:solidFill>
                <a:latin typeface="Calibri"/>
              </a:rPr>
              <a:t>Detailed data analysis — leakage taxonomy, calibration, and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73952"/>
            <a:ext cx="82296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A6B7B"/>
                </a:solidFill>
                <a:latin typeface="Calibri"/>
              </a:rPr>
              <a:t>Trust Layer — honest ML for small-data biology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7315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 i="0">
                <a:solidFill>
                  <a:srgbClr val="5A6B7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B1B1B"/>
                </a:solidFill>
                <a:latin typeface="Calibri"/>
              </a:rPr>
              <a:t>Appendix A — leakage audit on the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51560"/>
            <a:ext cx="111556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5A6B7B"/>
                </a:solidFill>
                <a:latin typeface="Calibri"/>
              </a:rPr>
              <a:t>Synthetic dataset: 160 samples, 800 features, 40 subjects × 4 replicates. 4 critical, 1 warning.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9164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554480"/>
                <a:gridCol w="67665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marL="73152" marR="73152" marT="27432" marB="27432" anchor="ctr">
                    <a:solidFill>
                      <a:srgbClr val="14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Severity</a:t>
                      </a:r>
                    </a:p>
                  </a:txBody>
                  <a:tcPr marL="73152" marR="73152" marT="27432" marB="27432" anchor="ctr">
                    <a:solidFill>
                      <a:srgbClr val="14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Finding</a:t>
                      </a:r>
                    </a:p>
                  </a:txBody>
                  <a:tcPr marL="73152" marR="73152" marT="27432" marB="27432" anchor="ctr">
                    <a:solidFill>
                      <a:srgbClr val="142A4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B1B1B"/>
                          </a:solidFill>
                          <a:latin typeface="Calibri"/>
                        </a:rPr>
                        <a:t>subject_leakage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B1B1B"/>
                          </a:solidFill>
                          <a:latin typeface="Calibri"/>
                        </a:rPr>
                        <a:t>CRITICAL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B1B1B"/>
                          </a:solidFill>
                          <a:latin typeface="Calibri"/>
                        </a:rPr>
                        <a:t>40 subjects, 160 rows (4 reps each). A random split puts the same subject on both sides.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B1B1B"/>
                          </a:solidFill>
                          <a:latin typeface="Calibri"/>
                        </a:rPr>
                        <a:t>batch_confound</a:t>
                      </a:r>
                    </a:p>
                  </a:txBody>
                  <a:tcPr marL="73152" marR="73152" marT="27432" marB="27432" anchor="ctr">
                    <a:solidFill>
                      <a:srgbClr val="ECF0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B1B1B"/>
                          </a:solidFill>
                          <a:latin typeface="Calibri"/>
                        </a:rPr>
                        <a:t>CRITICAL</a:t>
                      </a:r>
                    </a:p>
                  </a:txBody>
                  <a:tcPr marL="73152" marR="73152" marT="27432" marB="27432" anchor="ctr">
                    <a:solidFill>
                      <a:srgbClr val="ECF0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B1B1B"/>
                          </a:solidFill>
                          <a:latin typeface="Calibri"/>
                        </a:rPr>
                        <a:t>Batch confounded with outcome (Cramér's V = 0.67, p = 1.4e-17).</a:t>
                      </a:r>
                    </a:p>
                  </a:txBody>
                  <a:tcPr marL="73152" marR="73152" marT="27432" marB="27432" anchor="ctr">
                    <a:solidFill>
                      <a:srgbClr val="ECF0F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B1B1B"/>
                          </a:solidFill>
                          <a:latin typeface="Calibri"/>
                        </a:rPr>
                        <a:t>leaky_feature_selection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B1B1B"/>
                          </a:solidFill>
                          <a:latin typeface="Calibri"/>
                        </a:rPr>
                        <a:t>CRITICAL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B1B1B"/>
                          </a:solidFill>
                          <a:latin typeface="Calibri"/>
                        </a:rPr>
                        <a:t>Selection on full data before split — with p ≫ n manufactures 0.9+ AUC from noise.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B1B1B"/>
                          </a:solidFill>
                          <a:latin typeface="Calibri"/>
                        </a:rPr>
                        <a:t>leaky_preprocessing</a:t>
                      </a:r>
                    </a:p>
                  </a:txBody>
                  <a:tcPr marL="73152" marR="73152" marT="27432" marB="27432" anchor="ctr">
                    <a:solidFill>
                      <a:srgbClr val="ECF0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B1B1B"/>
                          </a:solidFill>
                          <a:latin typeface="Calibri"/>
                        </a:rPr>
                        <a:t>CRITICAL</a:t>
                      </a:r>
                    </a:p>
                  </a:txBody>
                  <a:tcPr marL="73152" marR="73152" marT="27432" marB="27432" anchor="ctr">
                    <a:solidFill>
                      <a:srgbClr val="ECF0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B1B1B"/>
                          </a:solidFill>
                          <a:latin typeface="Calibri"/>
                        </a:rPr>
                        <a:t>Scaling fit on full dataset; test rows informed the transform.</a:t>
                      </a:r>
                    </a:p>
                  </a:txBody>
                  <a:tcPr marL="73152" marR="73152" marT="27432" marB="27432" anchor="ctr">
                    <a:solidFill>
                      <a:srgbClr val="ECF0F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B1B1B"/>
                          </a:solidFill>
                          <a:latin typeface="Calibri"/>
                        </a:rPr>
                        <a:t>dimensionality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B1B1B"/>
                          </a:solidFill>
                          <a:latin typeface="Calibri"/>
                        </a:rPr>
                        <a:t>WARNING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B1B1B"/>
                          </a:solidFill>
                          <a:latin typeface="Calibri"/>
                        </a:rPr>
                        <a:t>800 features vs 160 samples (p/n = 5.0). Nested CV mandatory.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B1B1B"/>
                          </a:solidFill>
                          <a:latin typeface="Calibri"/>
                        </a:rPr>
                        <a:t>class_balance</a:t>
                      </a:r>
                    </a:p>
                  </a:txBody>
                  <a:tcPr marL="73152" marR="73152" marT="27432" marB="27432" anchor="ctr">
                    <a:solidFill>
                      <a:srgbClr val="ECF0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B1B1B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73152" marR="73152" marT="27432" marB="27432" anchor="ctr">
                    <a:solidFill>
                      <a:srgbClr val="ECF0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B1B1B"/>
                          </a:solidFill>
                          <a:latin typeface="Calibri"/>
                        </a:rPr>
                        <a:t>Minority class 40% — reasonably balanced.</a:t>
                      </a:r>
                    </a:p>
                  </a:txBody>
                  <a:tcPr marL="73152" marR="73152" marT="27432" marB="27432" anchor="ctr">
                    <a:solidFill>
                      <a:srgbClr val="ECF0F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B1B1B"/>
                          </a:solidFill>
                          <a:latin typeface="Calibri"/>
                        </a:rPr>
                        <a:t>duplicate_rows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B1B1B"/>
                          </a:solidFill>
                          <a:latin typeface="Calibri"/>
                        </a:rPr>
                        <a:t>OK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B1B1B"/>
                          </a:solidFill>
                          <a:latin typeface="Calibri"/>
                        </a:rPr>
                        <a:t>No exact duplicate feature rows.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6473952"/>
            <a:ext cx="82296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A6B7B"/>
                </a:solidFill>
                <a:latin typeface="Calibri"/>
              </a:rPr>
              <a:t>Trust Layer — honest ML for small-data biology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7315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 i="0">
                <a:solidFill>
                  <a:srgbClr val="5A6B7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B1B1B"/>
                </a:solidFill>
                <a:latin typeface="Calibri"/>
              </a:rPr>
              <a:t>Appendix B — honest performance &amp; calibration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51560"/>
            <a:ext cx="111556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5A6B7B"/>
                </a:solidFill>
                <a:latin typeface="Calibri"/>
              </a:rPr>
              <a:t>Calibrated logistic regression, leakage-safe out-of-fold predictions on the benchmark.</a:t>
            </a:r>
          </a:p>
        </p:txBody>
      </p:sp>
      <p:pic>
        <p:nvPicPr>
          <p:cNvPr id="6" name="Picture 5" descr="vd56780a4_fig2_honest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00617"/>
            <a:ext cx="7498079" cy="337116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0" y="1828800"/>
            <a:ext cx="3566160" cy="4114800"/>
          </a:xfrm>
          <a:prstGeom prst="rect">
            <a:avLst/>
          </a:prstGeom>
          <a:solidFill>
            <a:srgbClr val="EC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201168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B1B1B"/>
                </a:solidFill>
                <a:latin typeface="Calibri"/>
              </a:rPr>
              <a:t>Calibrated LogReg (honest)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2606040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5A6B7B"/>
                </a:solidFill>
                <a:latin typeface="Calibri"/>
              </a:rPr>
              <a:t>Honest AUC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2578608"/>
            <a:ext cx="105156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1700" b="1" i="0">
                <a:solidFill>
                  <a:srgbClr val="1F7A4D"/>
                </a:solidFill>
                <a:latin typeface="Calibri"/>
              </a:rPr>
              <a:t>0.899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3264408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5A6B7B"/>
                </a:solidFill>
                <a:latin typeface="Calibri"/>
              </a:rPr>
              <a:t>Leaky AUC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3236976"/>
            <a:ext cx="105156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1700" b="1" i="0">
                <a:solidFill>
                  <a:srgbClr val="C0392B"/>
                </a:solidFill>
                <a:latin typeface="Calibri"/>
              </a:rPr>
              <a:t>0.970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3922776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5A6B7B"/>
                </a:solidFill>
                <a:latin typeface="Calibri"/>
              </a:rPr>
              <a:t>Brier (honest)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3895344"/>
            <a:ext cx="105156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1700" b="1" i="0">
                <a:solidFill>
                  <a:srgbClr val="1B1B1B"/>
                </a:solidFill>
                <a:latin typeface="Calibri"/>
              </a:rPr>
              <a:t>0.146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4581144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5A6B7B"/>
                </a:solidFill>
                <a:latin typeface="Calibri"/>
              </a:rPr>
              <a:t>Brier (leaky)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4553712"/>
            <a:ext cx="105156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1700" b="1" i="0">
                <a:solidFill>
                  <a:srgbClr val="5A6B7B"/>
                </a:solidFill>
                <a:latin typeface="Calibri"/>
              </a:rPr>
              <a:t>0.072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5239512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5A6B7B"/>
                </a:solidFill>
                <a:latin typeface="Calibri"/>
              </a:rPr>
              <a:t>Log-loss (honest)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5212080"/>
            <a:ext cx="105156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1700" b="1" i="0">
                <a:solidFill>
                  <a:srgbClr val="1B1B1B"/>
                </a:solidFill>
                <a:latin typeface="Calibri"/>
              </a:rPr>
              <a:t>0.456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5925312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1">
                <a:solidFill>
                  <a:srgbClr val="5A6B7B"/>
                </a:solidFill>
                <a:latin typeface="Calibri"/>
              </a:rPr>
              <a:t>Probabilities calibrated inside each fold — Brier-reliable, leakage-safe.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473952"/>
            <a:ext cx="82296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A6B7B"/>
                </a:solidFill>
                <a:latin typeface="Calibri"/>
              </a:rPr>
              <a:t>Trust Layer — honest ML for small-data biology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73952"/>
            <a:ext cx="7315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 i="0">
                <a:solidFill>
                  <a:srgbClr val="5A6B7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15568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B1B1B"/>
                </a:solidFill>
                <a:latin typeface="Calibri"/>
              </a:rPr>
              <a:t>Appendix C — method &amp; reproducibility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51560"/>
            <a:ext cx="111556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5A6B7B"/>
                </a:solidFill>
                <a:latin typeface="Calibri"/>
              </a:rPr>
              <a:t>Every number in this deck is reproducible from saved artifacts.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5349240" cy="2103120"/>
          </a:xfrm>
          <a:prstGeom prst="rect">
            <a:avLst/>
          </a:prstGeom>
          <a:solidFill>
            <a:srgbClr val="EC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09728" cy="21031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920240"/>
            <a:ext cx="48463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2E86C1"/>
                </a:solidFill>
                <a:latin typeface="Calibri"/>
              </a:rPr>
              <a:t>Honest cross-validation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404872"/>
            <a:ext cx="4937760" cy="1417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B1B1B"/>
                </a:solidFill>
                <a:latin typeface="Calibri"/>
              </a:rPr>
              <a:t>•  Scaling, feature selection, and per-batch centering fit INSIDE each training fold only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B1B1B"/>
                </a:solidFill>
                <a:latin typeface="Calibri"/>
              </a:rPr>
              <a:t>•  GroupKFold on subject ID — no subject spans train and test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B1B1B"/>
                </a:solidFill>
                <a:latin typeface="Calibri"/>
              </a:rPr>
              <a:t>•  Naive pipeline fits the same steps on the full data (the deliberate leak)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783080"/>
            <a:ext cx="5349240" cy="2103120"/>
          </a:xfrm>
          <a:prstGeom prst="rect">
            <a:avLst/>
          </a:prstGeom>
          <a:solidFill>
            <a:srgbClr val="EC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783080"/>
            <a:ext cx="109728" cy="21031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1968" y="1920240"/>
            <a:ext cx="48463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2E86C1"/>
                </a:solidFill>
                <a:latin typeface="Calibri"/>
              </a:rPr>
              <a:t>Model &amp; calibration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2404872"/>
            <a:ext cx="4937760" cy="1417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B1B1B"/>
                </a:solidFill>
                <a:latin typeface="Calibri"/>
              </a:rPr>
              <a:t>•  Calibrated logistic regression for binary; Ridge / multinomial LogReg otherwise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B1B1B"/>
                </a:solidFill>
                <a:latin typeface="Calibri"/>
              </a:rPr>
              <a:t>•  Out-of-fold probabilities give unbiased AUC + Brier calibration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B1B1B"/>
                </a:solidFill>
                <a:latin typeface="Calibri"/>
              </a:rPr>
              <a:t>•  Nested CV measures the optimism of hyperparameter selection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069080"/>
            <a:ext cx="5349240" cy="2103120"/>
          </a:xfrm>
          <a:prstGeom prst="rect">
            <a:avLst/>
          </a:prstGeom>
          <a:solidFill>
            <a:srgbClr val="EC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069080"/>
            <a:ext cx="109728" cy="21031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4206240"/>
            <a:ext cx="48463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2E86C1"/>
                </a:solidFill>
                <a:latin typeface="Calibri"/>
              </a:rPr>
              <a:t>Notebook static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690872"/>
            <a:ext cx="4937760" cy="1417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B1B1B"/>
                </a:solidFill>
                <a:latin typeface="Calibri"/>
              </a:rPr>
              <a:t>•  AST parse of .ipynb / .py — no code executed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B1B1B"/>
                </a:solidFill>
                <a:latin typeface="Calibri"/>
              </a:rPr>
              <a:t>•  Flags fits before the split; recognises Pipeline + GroupKFold as safe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4069080"/>
            <a:ext cx="5349240" cy="2103120"/>
          </a:xfrm>
          <a:prstGeom prst="rect">
            <a:avLst/>
          </a:prstGeom>
          <a:solidFill>
            <a:srgbClr val="EC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4069080"/>
            <a:ext cx="109728" cy="21031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1968" y="4206240"/>
            <a:ext cx="48463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2E86C1"/>
                </a:solidFill>
                <a:latin typeface="Calibri"/>
              </a:rPr>
              <a:t>Validation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1968" y="4690872"/>
            <a:ext cx="4937760" cy="1417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B1B1B"/>
                </a:solidFill>
                <a:latin typeface="Calibri"/>
              </a:rPr>
              <a:t>•  Synthetic benchmark with known ground truth (25 true features)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B1B1B"/>
                </a:solidFill>
                <a:latin typeface="Calibri"/>
              </a:rPr>
              <a:t>•  Real: GEO GSE146996 — gastric cancer vs normal, 65 × 70,523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473952"/>
            <a:ext cx="82296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5A6B7B"/>
                </a:solidFill>
                <a:latin typeface="Calibri"/>
              </a:rPr>
              <a:t>Trust Layer — honest ML for small-data biology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73952"/>
            <a:ext cx="7315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 i="0">
                <a:solidFill>
                  <a:srgbClr val="5A6B7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